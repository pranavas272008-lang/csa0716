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005840" cy="45720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640080"/>
            <a:ext cx="548640" cy="73152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640080"/>
            <a:ext cx="1188720" cy="146304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1828800"/>
            <a:ext cx="1463040" cy="27432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37776" y="8595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643616" y="13167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5852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003536" y="20482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66576" y="17739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CO1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OSI Model in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Software-Defined Networking (SDN)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188720" cy="320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presentation exploring how the seven-layer OSI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 maps onto and shapes SDN architecture.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A245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5148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5148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10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5230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Pranav A 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596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192573001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Dr. Aberna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OSI Seven-Layer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85623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Software-Defined Networking?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4787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0" y="3794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Networking vs SDN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338328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54787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680960" y="3794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OSI Layers onto SDN Planes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3951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28800" y="5486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in Action: OpenFlow &amp; Controller Flow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50749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E8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523951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D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680960" y="5486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Challenges &amp; Conclusion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OSI 7-Layer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framework standardizing how network functions are organized into independent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5120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50876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FTP — user-facing services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12264"/>
            <a:ext cx="10881360" cy="512064"/>
          </a:xfrm>
          <a:prstGeom prst="rect">
            <a:avLst/>
          </a:prstGeom>
          <a:solidFill>
            <a:srgbClr val="0A5E8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12264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11226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11226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compression, data formatting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10881360" cy="512064"/>
          </a:xfrm>
          <a:prstGeom prst="rect">
            <a:avLst/>
          </a:prstGeom>
          <a:solidFill>
            <a:srgbClr val="0D62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1576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271576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Establishes, manages, terminates sessions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10881360" cy="512064"/>
          </a:xfrm>
          <a:prstGeom prst="rect">
            <a:avLst/>
          </a:prstGeom>
          <a:solidFill>
            <a:srgbClr val="11668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19272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31927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319272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— reliable end-to-end delivery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22776"/>
            <a:ext cx="10881360" cy="512064"/>
          </a:xfrm>
          <a:prstGeom prst="rect">
            <a:avLst/>
          </a:prstGeom>
          <a:solidFill>
            <a:srgbClr val="156A8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22776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9227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3922776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routing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512064"/>
          </a:xfrm>
          <a:prstGeom prst="rect">
            <a:avLst/>
          </a:prstGeom>
          <a:solidFill>
            <a:srgbClr val="186E9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2628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45262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31920" y="452628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addressing, switching, framing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129784"/>
            <a:ext cx="10881360" cy="5120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129784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7320" y="512978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31920" y="512978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over cable, radio, or fiber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Software-Defined Networking?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separates the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(decision-making) from the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(packet forwarding), centralizing network intelligence in a software controller.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controller has a global view of the network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886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defined via software, not fixed hardware logic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Interfaces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APIs (e.g., OpenFlow) between planes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Plane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apps, network services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2606040"/>
            <a:ext cx="0" cy="320040"/>
          </a:xfrm>
          <a:prstGeom prst="line">
            <a:avLst/>
          </a:prstGeom>
          <a:noFill/>
          <a:ln w="19050">
            <a:solidFill>
              <a:srgbClr val="6E7B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75120" y="292608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5478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Controller (e.g., ONOS, ODL)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98280" y="4343400"/>
            <a:ext cx="0" cy="320040"/>
          </a:xfrm>
          <a:prstGeom prst="line">
            <a:avLst/>
          </a:prstGeom>
          <a:noFill/>
          <a:ln w="19050">
            <a:solidFill>
              <a:srgbClr val="6E7B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0" y="466344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4892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Data Plane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52852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&amp; routers forward traffic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Networking vs SDN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still rely on the OSI layers underneath — SDN changes who controls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1A24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data planes bundled in every device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router/switch makes independent OSI L2/L3 decisions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per-device (CLI-based)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hardware &amp; firmware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adapt to changing traffic patterns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5146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L2/L3 forwarding logic lifted into a central controller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only execute forwarding rules (OSI L1-L2 data plane)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configuration via controller APIs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programmable, hardware-agnostic</a:t>
            </a:r>
            <a:endParaRPr lang="en-US" sz="13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automated response to traffic changes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OSI Layers onto SDN Planes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doesn't replace OSI — it reorganizes which entity performs each layer's function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(L7)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3291840" cy="457200"/>
          </a:xfrm>
          <a:prstGeom prst="rect">
            <a:avLst/>
          </a:prstGeom>
          <a:solidFill>
            <a:srgbClr val="0A5E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848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(L6)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15184"/>
            <a:ext cx="3291840" cy="457200"/>
          </a:xfrm>
          <a:prstGeom prst="rect">
            <a:avLst/>
          </a:prstGeom>
          <a:solidFill>
            <a:srgbClr val="0D62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151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(L5)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45536"/>
            <a:ext cx="3291840" cy="457200"/>
          </a:xfrm>
          <a:prstGeom prst="rect">
            <a:avLst/>
          </a:prstGeom>
          <a:solidFill>
            <a:srgbClr val="1166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455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(L4)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75888"/>
            <a:ext cx="3291840" cy="457200"/>
          </a:xfrm>
          <a:prstGeom prst="rect">
            <a:avLst/>
          </a:prstGeom>
          <a:solidFill>
            <a:srgbClr val="156A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75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(L3)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3291840" cy="457200"/>
          </a:xfrm>
          <a:prstGeom prst="rect">
            <a:avLst/>
          </a:prstGeom>
          <a:solidFill>
            <a:srgbClr val="186E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(L2)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32918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365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(L1)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1783080"/>
            <a:ext cx="3474720" cy="0"/>
          </a:xfrm>
          <a:prstGeom prst="line">
            <a:avLst/>
          </a:prstGeom>
          <a:noFill/>
          <a:ln w="15875">
            <a:solidFill>
              <a:srgbClr val="6E7B8B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55448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Plane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0" y="1965960"/>
            <a:ext cx="338328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network apps (L7)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0" y="3108960"/>
            <a:ext cx="3474720" cy="0"/>
          </a:xfrm>
          <a:prstGeom prst="line">
            <a:avLst/>
          </a:prstGeom>
          <a:noFill/>
          <a:ln w="15875">
            <a:solidFill>
              <a:srgbClr val="6E7B8B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2084832"/>
            <a:ext cx="3749040" cy="2048256"/>
          </a:xfrm>
          <a:prstGeom prst="roundRect">
            <a:avLst>
              <a:gd name="adj" fmla="val 2679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2176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0" y="2496312"/>
            <a:ext cx="338328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governs L6–L3 logic (sessions, transport policy, routing)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4700016"/>
            <a:ext cx="3474720" cy="0"/>
          </a:xfrm>
          <a:prstGeom prst="line">
            <a:avLst/>
          </a:prstGeom>
          <a:noFill/>
          <a:ln w="15875">
            <a:solidFill>
              <a:srgbClr val="6E7B8B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89520" y="4206240"/>
            <a:ext cx="3749040" cy="987552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4297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Data Plane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0" y="4617720"/>
            <a:ext cx="3383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handle L2 framing &amp; L1 transmission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in Action: OpenFlow &amp; Controller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packet's OSI header fields drive an SDN forwarding decision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65960" cy="3383280"/>
          </a:xfrm>
          <a:prstGeom prst="roundRect">
            <a:avLst>
              <a:gd name="adj" fmla="val 325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Arrives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receives a frame; it inspects OSI L2 (MAC) and L3/L4 (IP, port) header fields.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828800"/>
            <a:ext cx="1965960" cy="3383280"/>
          </a:xfrm>
          <a:prstGeom prst="roundRect">
            <a:avLst>
              <a:gd name="adj" fmla="val 3256"/>
            </a:avLst>
          </a:prstGeom>
          <a:solidFill>
            <a:srgbClr val="DCEAF1"/>
          </a:solidFill>
          <a:ln/>
        </p:spPr>
      </p:sp>
      <p:sp>
        <p:nvSpPr>
          <p:cNvPr id="11" name="Shape 9"/>
          <p:cNvSpPr/>
          <p:nvPr/>
        </p:nvSpPr>
        <p:spPr>
          <a:xfrm>
            <a:off x="3570732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7073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99232" y="27889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Table Lookup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9232" y="3337560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checks its local flow table for a matching rule installed by the controller.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352044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84064" y="1828800"/>
            <a:ext cx="1965960" cy="3383280"/>
          </a:xfrm>
          <a:prstGeom prst="roundRect">
            <a:avLst>
              <a:gd name="adj" fmla="val 3256"/>
            </a:avLst>
          </a:prstGeom>
          <a:solidFill>
            <a:srgbClr val="E8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92724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79272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21224" y="27889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Consulted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21224" y="3337560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miss, the switch queries the SDN controller over the OpenFlow protocol (runs above L4).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0024" y="352044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6056" y="1828800"/>
            <a:ext cx="1965960" cy="3383280"/>
          </a:xfrm>
          <a:prstGeom prst="roundRect">
            <a:avLst>
              <a:gd name="adj" fmla="val 3256"/>
            </a:avLst>
          </a:prstGeom>
          <a:solidFill>
            <a:srgbClr val="DCEAF1"/>
          </a:solidFill>
          <a:ln/>
        </p:spPr>
      </p:sp>
      <p:sp>
        <p:nvSpPr>
          <p:cNvPr id="23" name="Shape 21"/>
          <p:cNvSpPr/>
          <p:nvPr/>
        </p:nvSpPr>
        <p:spPr>
          <a:xfrm>
            <a:off x="8014716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01471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43216" y="27889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Installed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43216" y="3337560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computes a decision using network-wide L3 topology view and pushes a new flow rule.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72016" y="352044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8048" y="1828800"/>
            <a:ext cx="1965960" cy="3383280"/>
          </a:xfrm>
          <a:prstGeom prst="roundRect">
            <a:avLst>
              <a:gd name="adj" fmla="val 3256"/>
            </a:avLst>
          </a:prstGeom>
          <a:solidFill>
            <a:srgbClr val="E8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6708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1023670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65208" y="27889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Forwarded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65208" y="3337560"/>
            <a:ext cx="1691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forwards subsequent packets at L2 speed, without further controller involvement.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OSI Layering Discipline Still Matters in SDN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logic and forwarding hardware evolve independently, just as OSI layers 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14173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9512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layer boundaries let multi-vendor switches work with any OSI-aware controller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4173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21624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15984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Troubleshooting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1624" y="2194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can be isolated to a specific layer — physical link vs routing logic vs application policy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Abstractions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layers (transport, session) remain unchanged even as the control model shifts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16552" y="33375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5152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9512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4114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protocols (e.g., OpenFlow) slot in above L4 without redesigning L1-L2 hardware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93024" y="33375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8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421624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421624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15984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Reference Point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21624" y="4114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gives engineers a common vocabulary to reason about where SDN intelligence sits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91056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91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as a Bottleneck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8105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Centralizing control-plane logic that OSI left distributed introduces a single point of failure and scaling limits.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98648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98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724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Flow 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11810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controller round-trip for first-packet decisions adds delay compared to fully local L2/L3 forwarding.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032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42569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controller can manipulate routing decisions across the entire OSI stack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02936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513832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513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3400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Standardization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7332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OSI layer's behavior is cleanly exposed by current SDN southbound APIs (e.g., OpenFlow).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A245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does not disappear in SDN — it is reorganized. SDN redistributes OSI's layered responsibilities across a centralized control plane and a simplified data plane, keeping the same layered discipline while making the network programmable, vendor-neutral, and easier to manage at scale.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5021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layers still describe every function a network performs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0965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changes WHO executes each layer's logic, not the layers themselves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6908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OSI is essential to designing and debugging SDN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Networking Foundation, “SDN Architecture Overview,” ONF Technical Reports.</a:t>
            </a:r>
            <a:endParaRPr lang="en-US" sz="1400" dirty="0"/>
          </a:p>
          <a:p>
            <a:pPr marL="203200" indent="-2032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McKeown et al., “OpenFlow: Enabling Innovation in Campus Networks,” ACM SIGCOMM CCR, 2008.</a:t>
            </a:r>
            <a:endParaRPr lang="en-US" sz="1400" dirty="0"/>
          </a:p>
          <a:p>
            <a:pPr marL="203200" indent="-2032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Recommendation X.200, “Information Technology – Open Systems Interconnection – Basic Reference Model.”</a:t>
            </a:r>
            <a:endParaRPr lang="en-US" sz="1400" dirty="0"/>
          </a:p>
          <a:p>
            <a:pPr marL="203200" indent="-2032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Kreutz et al., “Software-Defined Networking: A Comprehensive Survey,” Proceedings of the IEEE, 2015.</a:t>
            </a:r>
            <a:endParaRPr lang="en-US" sz="1400" dirty="0"/>
          </a:p>
          <a:p>
            <a:pPr marL="203200" indent="-2032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Forouzan, B. A., “Data Communications and Networking,” McGraw-Hill.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230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A S  |  192573001  |  Guided by Dr. Aberna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in SDN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2026-07-29T05:36:00Z</dcterms:created>
  <dcterms:modified xsi:type="dcterms:W3CDTF">2026-07-29T05:36:00Z</dcterms:modified>
</cp:coreProperties>
</file>